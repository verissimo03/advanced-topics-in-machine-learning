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Paying Customers Growth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Paying Customers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Q1 Y1</c:v>
                  </c:pt>
                  <c:pt idx="1">
                    <c:v>Q2 Y1</c:v>
                  </c:pt>
                  <c:pt idx="2">
                    <c:v>Q3 Y1</c:v>
                  </c:pt>
                  <c:pt idx="3">
                    <c:v>Q4 Y1</c:v>
                  </c:pt>
                  <c:pt idx="4">
                    <c:v>Q2 Y2</c:v>
                  </c:pt>
                  <c:pt idx="5">
                    <c:v>Q4 Y2</c:v>
                  </c:pt>
                  <c:pt idx="6">
                    <c:v>Q2 Y3</c:v>
                  </c:pt>
                  <c:pt idx="7">
                    <c:v>Q4 Y3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50</c:v>
                </c:pt>
                <c:pt idx="1">
                  <c:v>120</c:v>
                </c:pt>
                <c:pt idx="2">
                  <c:v>250</c:v>
                </c:pt>
                <c:pt idx="3">
                  <c:v>500</c:v>
                </c:pt>
                <c:pt idx="4">
                  <c:v>750</c:v>
                </c:pt>
                <c:pt idx="5">
                  <c:v>1200</c:v>
                </c:pt>
                <c:pt idx="6">
                  <c:v>1700</c:v>
                </c:pt>
                <c:pt idx="7">
                  <c:v>2500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77240"/>
            <a:ext cx="1508760" cy="1508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749808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LexAI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2331720" y="1572768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Portugal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2331720" y="2267712"/>
            <a:ext cx="64922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2377440"/>
            <a:ext cx="6583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94A3B8"/>
                </a:solidFill>
              </a:rPr>
              <a:t>AI-Powered Legal Assistant for Portuguese SMEs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331720" y="4526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5A80"/>
                </a:solidFill>
              </a:rPr>
              <a:t>Business Plan &amp; Technical Architecture  ·  Nova SBE  ·  Masters in Business Analytics  ·  2025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 Today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9264" y="1353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Why Portugal?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9264" y="1664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Market evidence &amp; the legal gap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194560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94560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9264" y="2286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9264" y="25968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SME legal pain points &amp; failed alternatives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1272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127248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27248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9264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9264" y="3529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LexAI product &amp; AI architecture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40599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59936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59936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9264" y="4151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Business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9264" y="4462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Target market, GTM &amp; pricing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1261872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1261872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261872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12664" y="13533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AI Unit Economics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12664" y="16642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Token costs, hosting &amp; margin analysis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09160" y="2194560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2194560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194560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12664" y="22860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Defensibility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12664" y="259689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Moat, data flywheel &amp; safety framework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127248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127248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127248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12664" y="32186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Financial Projections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12664" y="352958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3-year P&amp;L &amp; milestones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4059936"/>
            <a:ext cx="4160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4059936"/>
            <a:ext cx="5120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4059936"/>
            <a:ext cx="51206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12664" y="41513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GenAI Transparency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12664" y="446227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Academic integrity log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MARKET CONTEXT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Portugal? The Evidence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965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07008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199339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Non-financial enterprises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 Portugal (INE, 2023)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1207008"/>
            <a:ext cx="1965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207008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2984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06040" y="199339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Of all enterprises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are SMEs (INE, 2023)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207008"/>
            <a:ext cx="1965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207008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2984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54880" y="199339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EU SMEs lack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in-house legal counsel*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12280" y="1207008"/>
            <a:ext cx="196596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12280" y="1207008"/>
            <a:ext cx="19659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1298448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903720" y="199339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Total legaltechs in PT;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none at SME scale†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44368"/>
            <a:ext cx="40690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90672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42416" y="3090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Portugal: a legaltech desert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48640" y="354787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Only ~10 legaltechs total in Portugal — none at 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No ODR (Online Dispute Resolution) platform exists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Abreu Advogados (2024): 'no scalable legaltechs'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EU AI Act (Aug 2024) creates new compliance demand now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PT SMEs employ 77.9% of the national workforce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09160" y="2944368"/>
            <a:ext cx="406908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3090672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85816" y="309067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EU SME legal market momentum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892040" y="3547872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EU SME legal services: 10.4% CAGR to 2033 (MDF, 2026)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76% of EU legal practitioners use GenAI weekly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AI adoption in law: 19% (2023) → 79% (2024)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LegalTech funding hit record highs in 2024 globally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$5B+ in legaltech venture debt issued in 2024 alone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365760" y="491032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*Eurostat / Market Data Forecast (2026) — 22M EU SMEs, 89% lack in-house legal counsel   †Abreu Advogados Knowledge Institute, Sept 2024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Portuguese SMEs Are Flying Blind Legally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4160520" cy="1572768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98448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264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4081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Prohibitive Cost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956816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A single contract review costs €200–500 from a Portuguese solicitor. Employment dispute defence: €2,000+. Most micro-businesses simply avoid lawyers entirely.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298448"/>
            <a:ext cx="4160520" cy="1572768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1298448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264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04688" y="140817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GDPR Complexity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937760" y="1956816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SMEs face recurring GDPR obligations — consent management, DPAs, breach reporting in 72 hours. CNPD fines can reach €20M. 89% lack in-house support.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3054096"/>
            <a:ext cx="4160520" cy="1572768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" y="3054096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8211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15568" y="31638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Labour Law Risk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48640" y="3712464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Portugal's Código do Trabalho is dense, frequently updated, and unforgiving. Wrongful termination is one of the most common — and costly — SME legal pitfalls.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054096"/>
            <a:ext cx="4160520" cy="1572768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754880" y="3054096"/>
            <a:ext cx="64008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8211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04688" y="316382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 Regulatory Surge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937760" y="3712464"/>
            <a:ext cx="38221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120+ major EU legislative acts entered force 2022–2024. EU AI Act (2025), CSRD, CSDDD — SMEs cannot track this volume. Non-compliance is an existential risk.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LexAI: Your AI Legal Co-pilot for Portuguese Law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97764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4416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What LexAI Does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1109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892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Contract Q&amp;A &amp; Risk Detection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87552" y="21762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Upload any contract and ask questions in Portuguese. LexAI flags risky clauses with citations to specific PT legal articles.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88336"/>
            <a:ext cx="329184" cy="32918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87552" y="2670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GDPR Compliance Assistant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987552" y="29535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Step-by-step GDPR checklists, auto-drafted DPA templates, 72-hour breach notification workflows tailored to CNPD requirements.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465576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87552" y="3447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Labour Law Guidance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87552" y="373075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Employment contract generation, dismissal risk scoring, and EU directive mapping. Updated as Código do Trabalho changes.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242816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7552" y="42245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Human Lawyer Escalation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987552" y="45079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One-click referral to verified Portuguese lawyers for complex matters. Transparent fixed-fee quotes. Sidesteps UPL risk by design.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617720" y="1207008"/>
            <a:ext cx="4160520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773168" y="12801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Core Value Proposition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773168" y="1627632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</a:rPr>
              <a:t>€49/mo replaces a €500 one-off contract review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</a:rPr>
              <a:t>Proactive GDPR compliance vs reactive fines up to €20M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CFBF1"/>
                </a:solidFill>
              </a:rPr>
              <a:t>Available 24/7, in Portuguese, with verified legal citations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617720" y="2715768"/>
            <a:ext cx="4160520" cy="67665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791456" y="27797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Generic ChatGPT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791456" y="30540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No PT corpus. No citations. No escalation. No jurisdiction knowledge.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617720" y="3483864"/>
            <a:ext cx="4160520" cy="676656"/>
          </a:xfrm>
          <a:prstGeom prst="rect">
            <a:avLst/>
          </a:prstGeom>
          <a:solidFill>
            <a:srgbClr val="E2E8F0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91456" y="35478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</a:rPr>
              <a:t>Traditional Lawyer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791456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€200-500/hr. Slow. Reactive only. Inaccessible to micro-businesses.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4617720" y="4251960"/>
            <a:ext cx="4160520" cy="676656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617720" y="4251960"/>
            <a:ext cx="73152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91456" y="43159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9488"/>
                </a:solidFill>
              </a:rPr>
              <a:t>LexAI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791456" y="45902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RAG-grounded PT law citations. Human escalation. €49/month.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Market &amp; Go-To-Market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397764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4416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Market Sizing (TAM/SAM/SOM)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474720" cy="566928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2416" y="1874520"/>
            <a:ext cx="281635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1.5M Portuguese non-financial SMEs needing legal services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265176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8036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42416" y="2880360"/>
            <a:ext cx="199339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~300K SMEs in Greater Lisbon &amp; Porto with digital ops + GDPR exposure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1828800" cy="56692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88620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SOM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42416" y="3886200"/>
            <a:ext cx="1170432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~15K SMEs reachable via accountant &amp; chamber partnerships Yr 1-2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90118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Year 1 SOM: 1,500 customers at avg €65/mo = ~€1.2M ARR at full run rate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Break-even at 200 customers (~Month 8)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207008"/>
            <a:ext cx="4160520" cy="37307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134416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Go-To-Market Channels</a:t>
            </a:r>
            <a:endParaRPr lang="en-US" sz="13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920240"/>
            <a:ext cx="329184" cy="32918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212080" y="190195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Accountant &amp; TOC Partnerships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212080" y="2185416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30K+ certified accountants in PT already serve as trusted SME advisors. White-label referral program with revenue share.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2706624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12080" y="26883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Chambers of Commerce (Câmaras)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5212080" y="2971800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Direct SME access. Enterprise plan sold as member benefit. Instant credibility and low CAC.</a:t>
            </a:r>
            <a:endParaRPr lang="en-US" sz="1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493008"/>
            <a:ext cx="329184" cy="32918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1208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Inbound SEO / Content Marketing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5212080" y="375818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Portuguese legal question content — GDPR guides, labour law FAQs — drives organic traffic from SMEs already searching.</a:t>
            </a:r>
            <a:endParaRPr lang="en-US" sz="10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4279392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212080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Lawyer Partner Network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5212080" y="4544568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Partner law firms handle escalated cases. Lawyers refer back to LexAI for pre-screening. Creates a trust-and-referral flywheel.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Model &amp; Pricing Tiers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65176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30352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Starter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30352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€29/mo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Micro-businesses &lt; 5 employees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8529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2862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20 AI queries/month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918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33009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Contract Q&amp;A (basic)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307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3739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GDPR checklist templates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69664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Email support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218688" y="1207008"/>
            <a:ext cx="2651760" cy="361188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218688" y="1207008"/>
            <a:ext cx="26517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218688" y="1216152"/>
            <a:ext cx="2651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MOST POPULAR</a:t>
            </a:r>
            <a:endParaRPr lang="en-US" sz="850" dirty="0"/>
          </a:p>
        </p:txBody>
      </p:sp>
      <p:sp>
        <p:nvSpPr>
          <p:cNvPr id="20" name="Text 14"/>
          <p:cNvSpPr/>
          <p:nvPr/>
        </p:nvSpPr>
        <p:spPr>
          <a:xfrm>
            <a:off x="3383280" y="15819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</a:rPr>
              <a:t>Professional</a:t>
            </a:r>
            <a:endParaRPr lang="en-US" sz="1700" dirty="0"/>
          </a:p>
        </p:txBody>
      </p:sp>
      <p:sp>
        <p:nvSpPr>
          <p:cNvPr id="21" name="Text 15"/>
          <p:cNvSpPr/>
          <p:nvPr/>
        </p:nvSpPr>
        <p:spPr>
          <a:xfrm>
            <a:off x="3383280" y="19476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€79/mo</a:t>
            </a:r>
            <a:endParaRPr lang="en-US" sz="2800" dirty="0"/>
          </a:p>
        </p:txBody>
      </p:sp>
      <p:sp>
        <p:nvSpPr>
          <p:cNvPr id="22" name="Text 16"/>
          <p:cNvSpPr/>
          <p:nvPr/>
        </p:nvSpPr>
        <p:spPr>
          <a:xfrm>
            <a:off x="3383280" y="24688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SMEs 5–50 employees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2852928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21608" y="2862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Unlimited AI queries</a:t>
            </a:r>
            <a:endParaRPr lang="en-US" sz="10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1568" y="3291840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721608" y="33009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Full contract analysis</a:t>
            </a:r>
            <a:endParaRPr lang="en-US" sz="10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3730752"/>
            <a:ext cx="237744" cy="23774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721608" y="3739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Labour law guidance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1568" y="4169664"/>
            <a:ext cx="237744" cy="23774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721608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Priority support + lawyer escalation</a:t>
            </a:r>
            <a:endParaRPr lang="en-US" sz="1000" dirty="0"/>
          </a:p>
        </p:txBody>
      </p:sp>
      <p:sp>
        <p:nvSpPr>
          <p:cNvPr id="31" name="Shape 21"/>
          <p:cNvSpPr/>
          <p:nvPr/>
        </p:nvSpPr>
        <p:spPr>
          <a:xfrm>
            <a:off x="6071616" y="1207008"/>
            <a:ext cx="265176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2"/>
          <p:cNvSpPr/>
          <p:nvPr/>
        </p:nvSpPr>
        <p:spPr>
          <a:xfrm>
            <a:off x="6236208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</a:rPr>
              <a:t>Enterprise</a:t>
            </a:r>
            <a:endParaRPr lang="en-US" sz="1700" dirty="0"/>
          </a:p>
        </p:txBody>
      </p:sp>
      <p:sp>
        <p:nvSpPr>
          <p:cNvPr id="33" name="Text 23"/>
          <p:cNvSpPr/>
          <p:nvPr/>
        </p:nvSpPr>
        <p:spPr>
          <a:xfrm>
            <a:off x="6236208" y="178308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€249/mo</a:t>
            </a:r>
            <a:endParaRPr lang="en-US" sz="2800" dirty="0"/>
          </a:p>
        </p:txBody>
      </p:sp>
      <p:sp>
        <p:nvSpPr>
          <p:cNvPr id="34" name="Text 24"/>
          <p:cNvSpPr/>
          <p:nvPr/>
        </p:nvSpPr>
        <p:spPr>
          <a:xfrm>
            <a:off x="6236208" y="23042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Medium firms &amp; accountancy offices</a:t>
            </a:r>
            <a:endParaRPr lang="en-US" sz="9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4496" y="2852928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574536" y="286207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Multi-user (up to 10)</a:t>
            </a:r>
            <a:endParaRPr lang="en-US" sz="100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54496" y="3291840"/>
            <a:ext cx="237744" cy="237744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6574536" y="33009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Custom corpus upload</a:t>
            </a:r>
            <a:endParaRPr lang="en-US" sz="10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4496" y="3730752"/>
            <a:ext cx="237744" cy="237744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6574536" y="37398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Dedicated lawyer SLA</a:t>
            </a:r>
            <a:endParaRPr lang="en-US" sz="100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496" y="4169664"/>
            <a:ext cx="237744" cy="237744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6574536" y="417880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API access + integrations</a:t>
            </a:r>
            <a:endParaRPr lang="en-US" sz="1000" dirty="0"/>
          </a:p>
        </p:txBody>
      </p:sp>
      <p:sp>
        <p:nvSpPr>
          <p:cNvPr id="43" name="Shape 29"/>
          <p:cNvSpPr/>
          <p:nvPr/>
        </p:nvSpPr>
        <p:spPr>
          <a:xfrm>
            <a:off x="365760" y="4910328"/>
            <a:ext cx="8412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4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48640" y="4992624"/>
            <a:ext cx="320040" cy="32004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987552" y="49743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Additional revenue:</a:t>
            </a:r>
            <a:endParaRPr lang="en-US" sz="1100" dirty="0"/>
          </a:p>
        </p:txBody>
      </p:sp>
      <p:sp>
        <p:nvSpPr>
          <p:cNvPr id="46" name="Text 31"/>
          <p:cNvSpPr/>
          <p:nvPr/>
        </p:nvSpPr>
        <p:spPr>
          <a:xfrm>
            <a:off x="2697480" y="4974336"/>
            <a:ext cx="5989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Lawyer referral fee 10–15%  |  Pay-per-document generation  |  White-label licensing to accountancy firms  |  Enterprise API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AI UNIT ECONOMICS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Costs, Hosting &amp; Path to Profitability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461772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441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Monthly COGS Per Active 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379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Inference (Claude claude-sonnet-4-6)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093976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~60 queries × 1,500 tokens avg (~90K tokens)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794760" y="18745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~€0.54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5000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Vector DB (Pinecone Serverless)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2606040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500MB PT legal corpus, ~10K queries/month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23865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~€0.08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8620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Hosting (Railway / Render)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3118104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FastAPI backend + Redis, prorated per user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794760" y="289864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~€0.40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37413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D1B2A"/>
                </a:solidFill>
              </a:rPr>
              <a:t>Human escalation (5% of queries)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363016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Lawyer review at €80/hr, ~10 min per escalation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94760" y="341071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~€0.67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94760"/>
            <a:ext cx="4434840" cy="603504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88620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</a:rPr>
              <a:t>Total COGS per user / month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142232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94760" y="392277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D9488"/>
                </a:solidFill>
              </a:rPr>
              <a:t>~€1.69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257800" y="1207008"/>
            <a:ext cx="352044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0680" y="134416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Gross Margin by Tier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18836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Plan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55080" y="1883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Price/mo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40880" y="1883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COGS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26680" y="18836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Gross Margin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24871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Starter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€29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248716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€1.69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24871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94.2%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21808" y="2980944"/>
            <a:ext cx="3337560" cy="548640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40680" y="3090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Professional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55080" y="30906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€79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3090672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€1.69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726680" y="30906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97.9%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69417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Enterprise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355080" y="36941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€249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040880" y="3694176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€4.50*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26680" y="36941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D1B2A"/>
                </a:solidFill>
              </a:rPr>
              <a:t>98.2%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40680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*Enterprise COGS higher due to dedicated lawyer SLA + multi-user infra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" y="4663440"/>
            <a:ext cx="8412480" cy="4754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727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Break-even: ~85 Professional subscribers covers €6,700/mo in fixed costs (infra + 1 developer). Profitable by month 8 with 200 paying users.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TECHNICAL ARCHITECTURE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Full-Stack RAG Pipeline &amp; System Design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508760" cy="1508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298448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801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Interface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208483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React + Tailwind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Streamlit (MVP)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1874520" y="1920240"/>
            <a:ext cx="2286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03120" y="1207008"/>
            <a:ext cx="150876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298448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03120" y="1801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API Gateway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2103120" y="208483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FastAPI (Python)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Auth · Rate limits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3611880" y="1920240"/>
            <a:ext cx="2286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840480" y="1207008"/>
            <a:ext cx="1508760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298448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480" y="1801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RAG Engine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840480" y="208483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LlamaIndex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Retrieval + rerank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349240" y="1920240"/>
            <a:ext cx="2286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577840" y="1207008"/>
            <a:ext cx="1508760" cy="1508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1298448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1801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 Store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5577840" y="208483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Pinecone Serverless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PT legal corpus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7086600" y="1920240"/>
            <a:ext cx="2286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315200" y="1207008"/>
            <a:ext cx="1508760" cy="1508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6408" y="1298448"/>
            <a:ext cx="475488" cy="4754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0" y="1801368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315200" y="2084832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Claude claude-sonnet-4-6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B0C4D8"/>
                </a:solidFill>
              </a:rPr>
              <a:t>Citation-grounded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365760" y="2834640"/>
            <a:ext cx="8412480" cy="457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65760" y="2944368"/>
            <a:ext cx="8412480" cy="11704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4"/>
          <p:cNvSpPr/>
          <p:nvPr/>
        </p:nvSpPr>
        <p:spPr>
          <a:xfrm>
            <a:off x="548640" y="30632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Portuguese Legal Corpus — RAG Knowledge Base</a:t>
            </a:r>
            <a:endParaRPr lang="en-US" sz="13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447288"/>
            <a:ext cx="201168" cy="20116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2296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Diário da República (legislation)</a:t>
            </a:r>
            <a:endParaRPr lang="en-US" sz="10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447288"/>
            <a:ext cx="201168" cy="20116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361188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Código do Trabalho 2024</a:t>
            </a:r>
            <a:endParaRPr lang="en-US" sz="10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80" y="3447288"/>
            <a:ext cx="201168" cy="201168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400800" y="344728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GDPR + CNPD guidelines PT</a:t>
            </a:r>
            <a:endParaRPr lang="en-US" sz="10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3831336"/>
            <a:ext cx="201168" cy="20116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822960" y="3831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Código Civil Português</a:t>
            </a:r>
            <a:endParaRPr lang="en-US" sz="10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37560" y="3831336"/>
            <a:ext cx="201168" cy="201168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3611880" y="3831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EU AI Act &amp; CSRD</a:t>
            </a:r>
            <a:endParaRPr lang="en-US" sz="10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6480" y="3831336"/>
            <a:ext cx="201168" cy="201168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400800" y="3831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Court decisions (Jurisprudência)</a:t>
            </a:r>
            <a:endParaRPr lang="en-US" sz="1000" dirty="0"/>
          </a:p>
        </p:txBody>
      </p:sp>
      <p:sp>
        <p:nvSpPr>
          <p:cNvPr id="44" name="Shape 31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32"/>
          <p:cNvSpPr/>
          <p:nvPr/>
        </p:nvSpPr>
        <p:spPr>
          <a:xfrm>
            <a:off x="548640" y="43159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Tech Stack: </a:t>
            </a:r>
            <a:endParaRPr lang="en-US" sz="1100" dirty="0"/>
          </a:p>
        </p:txBody>
      </p:sp>
      <p:sp>
        <p:nvSpPr>
          <p:cNvPr id="46" name="Text 33"/>
          <p:cNvSpPr/>
          <p:nvPr/>
        </p:nvSpPr>
        <p:spPr>
          <a:xfrm>
            <a:off x="1783080" y="4315968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Frontend: React + Tailwind  ·  Backend: FastAPI (Python)  ·  RAG: LlamaIndex  ·  LLM: Claude claude-sonnet-4-6  ·  Vector DB: Pinecone  ·  Auth: Supabase  ·  Deploy: Railway  ·  Storage: AWS S3 (eu-west-1)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DEFENSIBILITY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Moat: Why This Is Not Just a Wrapper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697480" cy="1645920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417320"/>
            <a:ext cx="384048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69264" y="1444752"/>
            <a:ext cx="19202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9264" y="14447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Data Moat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93776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Proprietary PT Legal Corpus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3776" y="21122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Curated, versioned legal corpus tracking Diário da República with automated update pipelines. Updated faster than any LLM's training cycle.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64408" y="1261872"/>
            <a:ext cx="2697480" cy="1645920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64408" y="12618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424" y="1417320"/>
            <a:ext cx="384048" cy="38404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867912" y="1444752"/>
            <a:ext cx="19202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67912" y="14447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Network Effect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392424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Contract Data Flywheel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3392424" y="21122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Each uploaded contract builds an anonymised pattern library. Over time: risk detection trained on real PT SME legal outcomes. Compounding advantage.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63056" y="1261872"/>
            <a:ext cx="2697480" cy="1645920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163056" y="12618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417320"/>
            <a:ext cx="384048" cy="384048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766560" y="1444752"/>
            <a:ext cx="19202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766560" y="14447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Distribution Lock-in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6291072" y="17830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Accountant Distribution Channel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291072" y="21122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30K+ certified accountants are the default trusted advisors of every PT SME. Once embedded in their workflow, LexAI becomes the default.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365760" y="3090672"/>
            <a:ext cx="2697480" cy="1645920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5760" y="30906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246120"/>
            <a:ext cx="384048" cy="384048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69264" y="3273552"/>
            <a:ext cx="19202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69264" y="3273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Regulatory Hedge</a:t>
            </a:r>
            <a:endParaRPr lang="en-US" sz="850" dirty="0"/>
          </a:p>
        </p:txBody>
      </p:sp>
      <p:sp>
        <p:nvSpPr>
          <p:cNvPr id="31" name="Text 25"/>
          <p:cNvSpPr/>
          <p:nvPr/>
        </p:nvSpPr>
        <p:spPr>
          <a:xfrm>
            <a:off x="493776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Lawyer Partner Network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493776" y="39410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Partner law firms handle escalations, sidestep UPL risk entirely, and refer pre-screened clients back to LexAI. Competitors must rebuild this from scratch.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3264408" y="3090672"/>
            <a:ext cx="2697480" cy="1645920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3264408" y="30906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92424" y="3246120"/>
            <a:ext cx="384048" cy="384048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3867912" y="3273552"/>
            <a:ext cx="19202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867912" y="3273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Compliance Barrier</a:t>
            </a:r>
            <a:endParaRPr lang="en-US" sz="850" dirty="0"/>
          </a:p>
        </p:txBody>
      </p:sp>
      <p:sp>
        <p:nvSpPr>
          <p:cNvPr id="38" name="Text 31"/>
          <p:cNvSpPr/>
          <p:nvPr/>
        </p:nvSpPr>
        <p:spPr>
          <a:xfrm>
            <a:off x="3392424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GDPR-Compliant Architecture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3392424" y="39410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EU-only data residency (AWS eu-west-1). CNPD-registered. AES-256 encryption. Enterprise PT clients require this — a real barrier for non-EU competitors.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163056" y="3090672"/>
            <a:ext cx="2697480" cy="1645920"/>
          </a:xfrm>
          <a:prstGeom prst="rect">
            <a:avLst/>
          </a:prstGeom>
          <a:solidFill>
            <a:srgbClr val="142A47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163056" y="3090672"/>
            <a:ext cx="269748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246120"/>
            <a:ext cx="384048" cy="384048"/>
          </a:xfrm>
          <a:prstGeom prst="rect">
            <a:avLst/>
          </a:prstGeom>
        </p:spPr>
      </p:pic>
      <p:sp>
        <p:nvSpPr>
          <p:cNvPr id="43" name="Shape 35"/>
          <p:cNvSpPr/>
          <p:nvPr/>
        </p:nvSpPr>
        <p:spPr>
          <a:xfrm>
            <a:off x="6766560" y="3273552"/>
            <a:ext cx="1920240" cy="2286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766560" y="32735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B8A6"/>
                </a:solidFill>
              </a:rPr>
              <a:t>Domain Depth</a:t>
            </a:r>
            <a:endParaRPr lang="en-US" sz="850" dirty="0"/>
          </a:p>
        </p:txBody>
      </p:sp>
      <p:sp>
        <p:nvSpPr>
          <p:cNvPr id="45" name="Text 37"/>
          <p:cNvSpPr/>
          <p:nvPr/>
        </p:nvSpPr>
        <p:spPr>
          <a:xfrm>
            <a:off x="6291072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Portuguese-Language Depth</a:t>
            </a:r>
            <a:endParaRPr lang="en-US" sz="1150" dirty="0"/>
          </a:p>
        </p:txBody>
      </p:sp>
      <p:sp>
        <p:nvSpPr>
          <p:cNvPr id="46" name="Text 38"/>
          <p:cNvSpPr/>
          <p:nvPr/>
        </p:nvSpPr>
        <p:spPr>
          <a:xfrm>
            <a:off x="6291072" y="3941064"/>
            <a:ext cx="2468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PT legal citation style, PT jurisdiction knowledge, Código do Trabalho specificity. Generic AI gives generic answers. LexAI cites Artigo 396.º do Código Civil.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SAFETY &amp; RISK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Safety Framework &amp; Risk Mitigation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8412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35608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3258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Hallucination Risk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1655064"/>
            <a:ext cx="74980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1655064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Risk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063240" y="1307592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answer requires a citation to a specific PT legal article or EU regulation. No citation = no output. Confidence score displayed. Users can view source documents. 'I don't know' fallback below 70% confidence.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65760" y="2185416"/>
            <a:ext cx="8412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2185416"/>
            <a:ext cx="73152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86584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51560" y="227685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Unauthorized Practice of Law (UPL)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1051560" y="2606040"/>
            <a:ext cx="749808" cy="21945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051560" y="2606040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High Risk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063240" y="2258568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LexAI is explicitly 'legal information', not 'legal advice'. Clear disclaimers on every output. Lawyer escalation path always visible. Partnership with Ordem dos Advogados pursued at launch to validate scope.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365760" y="3136392"/>
            <a:ext cx="8412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65760" y="3136392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3375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51560" y="3227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Privacy &amp; GDPR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51560" y="3557016"/>
            <a:ext cx="74980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51560" y="3557016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 Risk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3063240" y="3209544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User contracts encrypted at rest (AES-256). EU-only data residency (AWS eu-west-1). No training on customer data without explicit opt-in consent. CNPD-registered data controller. Annual third-party pen-tests.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365760" y="4087368"/>
            <a:ext cx="84124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365760" y="4087368"/>
            <a:ext cx="73152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288536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51560" y="41788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 Provider Dependency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1051560" y="4507992"/>
            <a:ext cx="749808" cy="2194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1051560" y="4507992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 Risk</a:t>
            </a:r>
            <a:endParaRPr lang="en-US" sz="850" dirty="0"/>
          </a:p>
        </p:txBody>
      </p:sp>
      <p:sp>
        <p:nvSpPr>
          <p:cNvPr id="32" name="Text 26"/>
          <p:cNvSpPr/>
          <p:nvPr/>
        </p:nvSpPr>
        <p:spPr>
          <a:xfrm>
            <a:off x="3063240" y="4160520"/>
            <a:ext cx="5577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Architecture is model-agnostic. Fallback to open-weight model (Mistral-7B fine-tuned on PT law) if API cost increases &gt;50%. Multi-provider prompt library maintained in version control.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365760" y="495604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Additional safeguards: output watermarking  ·  abuse detection  ·  user activity logs  ·  quarterly AI safety audits  ·  transparent model versioning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FINANCIALS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Financial Projections</a:t>
            </a:r>
            <a:endParaRPr lang="en-US" sz="2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07008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760720" y="1207008"/>
            <a:ext cx="3017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25312" y="1280160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Year 1 ARR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25312" y="1554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€450K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925312" y="1892808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500 customers @ avg €75/mo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2194560"/>
            <a:ext cx="3017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25312" y="2267712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Year 2 ARR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25312" y="2542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€1.2M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925312" y="2880360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1,200 customers at scale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760720" y="3182112"/>
            <a:ext cx="3017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25312" y="325526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Year 3 ARR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25312" y="35295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€2.8M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925312" y="3867912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2,500 customers + enterprise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4169664"/>
            <a:ext cx="3017520" cy="868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925312" y="4242816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Gross Margin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25312" y="451713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~96%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925312" y="4855464"/>
            <a:ext cx="2697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At scale; COGS &lt; 4% of revenue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65760" y="3950208"/>
            <a:ext cx="841248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864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Milestones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48640" y="4352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" y="4462272"/>
            <a:ext cx="11430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4048" y="4279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M1-3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84048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MVP · Lisbon pilot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965960" y="4352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240280" y="4462272"/>
            <a:ext cx="11430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01368" y="4279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M4-6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801368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Accountant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partner launch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383280" y="4352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657600" y="4462272"/>
            <a:ext cx="11430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218688" y="4279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M6-9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18688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Break-even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200 users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4800600" y="4352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074920" y="4462272"/>
            <a:ext cx="11430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36008" y="4279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M9-12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636008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Series A prep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500 users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217920" y="4352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492240" y="4462272"/>
            <a:ext cx="1143000" cy="54864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53328" y="4279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Y2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053328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Porto expansion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+Spain research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7635240" y="435254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470648" y="4279392"/>
            <a:ext cx="603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Y3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7470648" y="466344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Spain · Brazil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market entry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</a:rPr>
              <a:t>APPENDIX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4846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GenAI Transparency Log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8412480" cy="3639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3441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AI Tool Usage Disclosure — Academic Integrity Compliance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37944"/>
            <a:ext cx="8229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2024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Ideation &amp; Market Research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24912" y="1938528"/>
            <a:ext cx="1508760" cy="20116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24912" y="1938528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Claude claude-sonnet-4-6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70832" y="1911096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Generated initial startup ideas, rated feasibility/difficulty. All statistics independently verified against INE, Eurostat, Abreu Advogados, and Market Data Forecast sources.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2487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Silicon Judges Evaluation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24912" y="2505456"/>
            <a:ext cx="1508760" cy="20116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24912" y="2505456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Claude claude-sonnet-4-6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370832" y="2478024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Full business plan stress-tested using a custom LLM-as-a-Judge prompt. Identified UPL risk, wrapper risk, and CAC blind spots. All findings incorporated into the final BP.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8229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054096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Business Plan Structure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24912" y="3072384"/>
            <a:ext cx="1508760" cy="20116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24912" y="30723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Claude claude-sonnet-4-6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370832" y="3044952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Used to structure BP sections per project brief. Team independently authored all strategy decisions. AI suggested outline; humans edited and validated every claim.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36210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Technical Architecture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24912" y="3639312"/>
            <a:ext cx="1508760" cy="20116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363931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Claude claude-sonnet-4-6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70832" y="3611880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RAG pipeline design, stack selection, and cost calculations reviewed and refined. All token costs verified against live Anthropic and Pinecone pricing pages.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4105656"/>
            <a:ext cx="8229600" cy="54864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18795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Presentation Design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24912" y="4206240"/>
            <a:ext cx="1508760" cy="201168"/>
          </a:xfrm>
          <a:prstGeom prst="rect">
            <a:avLst/>
          </a:prstGeom>
          <a:solidFill>
            <a:srgbClr val="CCFBF1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24912" y="420624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9488"/>
                </a:solidFill>
              </a:rPr>
              <a:t>PptxGenJS + Claude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370832" y="4178808"/>
            <a:ext cx="4315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Slide layout and visual structure co-designed with AI formatting assistance. All content, positioning, and narrative authored by the team.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919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75569"/>
                </a:solidFill>
              </a:rPr>
              <a:t>All strategic decisions, financial projections, market interpretations, and final content are the independent work of the team. AI tools were used for acceleration and structuring, not as a substitute for original thought.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777240"/>
            <a:ext cx="1508760" cy="1508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6012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31720" y="7772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LexAI Portugal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2331720" y="1572768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4B8A6"/>
                </a:solidFill>
              </a:rPr>
              <a:t>Legal clarity for every Portuguese business.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331720" y="2148840"/>
            <a:ext cx="649224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1.5M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2331720" y="2834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Portuguese SMEs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95928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995928" y="2834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Underserved today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660136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10.4%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660136" y="2834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SME legal CAGR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324344" y="2304288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€0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324344" y="283464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Scalable PT legaltech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331720" y="3337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</a:rPr>
              <a:t>The window is open. The market is real. The technology is ready.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2331720" y="45262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Thank you  ·  Questions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LexAI Portugal Business Plan</dc:title>
  <dc:subject>PptxGenJS Presentation</dc:subject>
  <dc:creator>PptxGenJS</dc:creator>
  <cp:lastModifiedBy>PptxGenJS</cp:lastModifiedBy>
  <cp:revision>1</cp:revision>
  <dcterms:created xsi:type="dcterms:W3CDTF">2026-05-07T09:14:31Z</dcterms:created>
  <dcterms:modified xsi:type="dcterms:W3CDTF">2026-05-07T09:14:31Z</dcterms:modified>
</cp:coreProperties>
</file>